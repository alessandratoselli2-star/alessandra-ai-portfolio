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Georgia Pro Light" charset="1" panose="02040302050405020303"/>
      <p:regular r:id="rId11"/>
    </p:embeddedFont>
    <p:embeddedFont>
      <p:font typeface="DM Sans" charset="1" panose="00000000000000000000"/>
      <p:regular r:id="rId12"/>
    </p:embeddedFont>
    <p:embeddedFont>
      <p:font typeface="DM Sans Bold" charset="1" panose="00000000000000000000"/>
      <p:regular r:id="rId13"/>
    </p:embeddedFont>
    <p:embeddedFont>
      <p:font typeface="Georgia Pro Bold" charset="1" panose="020408020504050202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597" r="0" b="-5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44200" y="666750"/>
            <a:ext cx="6877050" cy="585084"/>
            <a:chOff x="0" y="0"/>
            <a:chExt cx="9169400" cy="780112"/>
          </a:xfrm>
        </p:grpSpPr>
        <p:sp>
          <p:nvSpPr>
            <p:cNvPr name="Freeform 5" id="5"/>
            <p:cNvSpPr/>
            <p:nvPr/>
          </p:nvSpPr>
          <p:spPr>
            <a:xfrm flipH="true" flipV="false" rot="-5400000">
              <a:off x="36553" y="74861"/>
              <a:ext cx="555143" cy="628248"/>
            </a:xfrm>
            <a:custGeom>
              <a:avLst/>
              <a:gdLst/>
              <a:ahLst/>
              <a:cxnLst/>
              <a:rect r="r" b="b" t="t" l="l"/>
              <a:pathLst>
                <a:path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95304" y="95250"/>
              <a:ext cx="8374096" cy="68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5"/>
                </a:lnSpc>
              </a:pPr>
              <a:r>
                <a:rPr lang="en-US" sz="3864" spc="-77">
                  <a:solidFill>
                    <a:srgbClr val="555555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Facility Management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4675" y="1562100"/>
            <a:ext cx="6886575" cy="3571948"/>
            <a:chOff x="0" y="0"/>
            <a:chExt cx="9182100" cy="476259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80975"/>
              <a:ext cx="9182100" cy="3535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75"/>
                </a:lnSpc>
              </a:pPr>
              <a:r>
                <a:rPr lang="en-US" sz="9975">
                  <a:solidFill>
                    <a:srgbClr val="1A1A1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Performance Report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966943"/>
              <a:ext cx="917267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39"/>
                </a:lnSpc>
              </a:pPr>
              <a:r>
                <a:rPr lang="en-US" sz="3599">
                  <a:solidFill>
                    <a:srgbClr val="555555"/>
                  </a:solidFill>
                  <a:latin typeface="DM Sans"/>
                  <a:ea typeface="DM Sans"/>
                  <a:cs typeface="DM Sans"/>
                  <a:sym typeface="DM Sans"/>
                </a:rPr>
                <a:t>Executive Summary Overview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44200" y="9156764"/>
            <a:ext cx="5743575" cy="888872"/>
            <a:chOff x="0" y="0"/>
            <a:chExt cx="7658100" cy="118516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91344"/>
              <a:ext cx="7658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[Your Name Here]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658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55555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734675" y="5605499"/>
            <a:ext cx="6886575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4200">
                <a:solidFill>
                  <a:srgbClr val="1A1A1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28,7%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34675" y="6236155"/>
            <a:ext cx="6886575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degli impianti con guasto ha avuto interventi ripetuti nel 2025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34675" y="7304225"/>
            <a:ext cx="6886575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4200">
                <a:solidFill>
                  <a:srgbClr val="1A1A1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52%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34675" y="7944332"/>
            <a:ext cx="6886575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di tutti gli ODL dell'anno generato da questo sottoinsieme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2409825"/>
            <a:ext cx="6886575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Confronto ODL totali 2024-2025-2026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Trend in lieve calo su tre anni consecutivi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Filiale Firenze: 72,7% impianti con guasti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Sede Brescia: 64,6% impianti con guasti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Hub Logistico Bologna: 30,5% con incidenza più bassa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657225"/>
            <a:ext cx="5762625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u="none">
                <a:solidFill>
                  <a:srgbClr val="1A1A1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KPI Performance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3571875"/>
            <a:ext cx="5715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555555"/>
                </a:solidFill>
                <a:latin typeface="DM Sans Bold"/>
                <a:ea typeface="DM Sans Bold"/>
                <a:cs typeface="DM Sans Bold"/>
                <a:sym typeface="DM Sans Bold"/>
              </a:rPr>
              <a:t>ODL TOTALI PER ANNO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893" y="3477151"/>
            <a:ext cx="9142262" cy="57280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5753100" cy="22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1A1A1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Performance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96400" y="2409825"/>
            <a:ext cx="7191375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Nel 2025, le sedi di </a:t>
            </a:r>
            <a:r>
              <a:rPr lang="en-US" b="true" sz="2100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Padova, Brescia</a:t>
            </a:r>
            <a:r>
              <a:rPr lang="en-US" sz="21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e </a:t>
            </a:r>
            <a:r>
              <a:rPr lang="en-US" b="true" sz="2100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Torre Nord Milano</a:t>
            </a:r>
            <a:r>
              <a:rPr lang="en-US" sz="21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hanno registrato il maggior numero di interventi ripetuti, evidenziando la necessità di una </a:t>
            </a:r>
            <a:r>
              <a:rPr lang="en-US" b="true" sz="2100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manutenzione mirata</a:t>
            </a:r>
            <a:r>
              <a:rPr lang="en-US" sz="21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1514475"/>
            <a:ext cx="71913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555555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PROBLEMATIC BUILDINGS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5095875"/>
            <a:ext cx="7191375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Alcuni impianti hanno generato fino a </a:t>
            </a:r>
            <a:r>
              <a:rPr lang="en-US" b="true" sz="2100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8 interventi</a:t>
            </a:r>
            <a:r>
              <a:rPr lang="en-US" sz="21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nello stesso anno, dimostrando che una gestione efficiente è cruciale per evitare carichi ricorrenti sulle squadre tecniche.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4200525"/>
            <a:ext cx="71913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555555"/>
                </a:solidFill>
                <a:latin typeface="DM Sans Bold"/>
                <a:ea typeface="DM Sans Bold"/>
                <a:cs typeface="DM Sans Bold"/>
                <a:sym typeface="DM Sans Bold"/>
              </a:rPr>
              <a:t>RECIDIVISMO DEGLI IMPIANTI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15821025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1A1A1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Key Issues and Root Causes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4314825" cy="3484909"/>
            <a:chOff x="0" y="0"/>
            <a:chExt cx="5753100" cy="46465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557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The maintenance load is unevenly distributed across the asset portfolio, causing specific assets to require disproportionate attention and resources, thereby straining the technical teams.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5753100" cy="1178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55555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MAINTENANCE LOAD IMBALANCE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4314825" cy="3484909"/>
            <a:chOff x="0" y="0"/>
            <a:chExt cx="5753100" cy="464654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7557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A small group of assets generates a significant share of interventions, revealing critical underlying problems that are not yet fully diagnosed or resolved, leading to repeated issues.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5753100" cy="1178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55555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CONCENTRATED ASSET FAILURES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4314825" cy="3849192"/>
            <a:chOff x="0" y="0"/>
            <a:chExt cx="5753100" cy="51322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755775"/>
              <a:ext cx="57531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Localized aging and recurring corrective maintenance rather than resolving issues contribute to ongoing challenges, which, if unaddressed, will continue to burden the technical teams with recurring loads.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5753100" cy="1178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55555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AGING INFRASTRUCTURE CONCERNS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7296150"/>
            <a:ext cx="7191375" cy="2324100"/>
            <a:chOff x="0" y="0"/>
            <a:chExt cx="9588500" cy="3098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41095"/>
              <a:ext cx="95885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Implement monthly automated report generation for continuous monitoring, minimizing manual intervention and enabling timely responses to emerging issues within the facility management system.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55555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AUTOMATE REPORTING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7296150"/>
            <a:ext cx="7191375" cy="2324100"/>
            <a:chOff x="0" y="0"/>
            <a:chExt cx="9588500" cy="3098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41095"/>
              <a:ext cx="95885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Conduct quarterly reviews of the list of recidivist plants to identify new patterns and trends promptly, ensuring proactive strategies are employed for effective facility management.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55555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QUARTERLY REVIEW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4248150"/>
            <a:ext cx="7191375" cy="2311400"/>
            <a:chOff x="0" y="0"/>
            <a:chExt cx="9588500" cy="30818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24162"/>
              <a:ext cx="95885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Conduct thorough inspections on assets identified as recurrent issues in 2025 to ensure early detection and prevention of further malfunctions and service interruptions.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55555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PRIORITIZE INSPECTION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4248150"/>
            <a:ext cx="7191375" cy="2327910"/>
            <a:chOff x="0" y="0"/>
            <a:chExt cx="9588500" cy="31038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46175"/>
              <a:ext cx="95885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Assess the need for replacement or extraordinary maintenance for assets that have incurred more than five interventions within the year, addressing underlying problems effectively.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55555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EVALUATE REPLACEMENT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33425"/>
            <a:ext cx="16954500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1A1A1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Recommended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Presentazione - Performance Report</dc:description>
  <dc:identifier>DAHUJPVeQqE</dc:identifier>
  <dcterms:modified xsi:type="dcterms:W3CDTF">2011-08-01T06:04:30Z</dcterms:modified>
  <cp:revision>1</cp:revision>
  <dc:title>Presentazione - Performance Report</dc:title>
</cp:coreProperties>
</file>